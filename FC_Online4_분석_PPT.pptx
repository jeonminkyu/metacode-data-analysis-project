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notesMasterIdLst>
    <p:notesMasterId r:id="rId3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notesMaster" Target="notesMasters/notesMaster1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23960" y="0"/>
            <a:ext cx="320040" cy="5143500"/>
          </a:xfrm>
          <a:prstGeom prst="rect">
            <a:avLst/>
          </a:prstGeom>
          <a:solidFill>
            <a:srgbClr val="F28E2B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1188720"/>
            <a:ext cx="548640" cy="73152"/>
          </a:xfrm>
          <a:prstGeom prst="rect">
            <a:avLst/>
          </a:prstGeom>
          <a:solidFill>
            <a:srgbClr val="F28E2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315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3600" b="1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FC Online 4</a:t>
            </a:r>
            <a:endParaRPr lang="en-US" sz="3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600" b="1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분석 프로젝트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640080" y="292608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패키지 출시가 유저 이탈과 매출에 미치는 영향 분석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411480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2025.01 ~ 2025.04  |  유저 50,000명 분석  |  minkyu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046720" y="466344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23960" y="0"/>
            <a:ext cx="320040" cy="5143500"/>
          </a:xfrm>
          <a:prstGeom prst="rect">
            <a:avLst/>
          </a:prstGeom>
          <a:solidFill>
            <a:srgbClr val="F28E2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 개요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713232"/>
            <a:ext cx="1097280" cy="36576"/>
          </a:xfrm>
          <a:prstGeom prst="rect">
            <a:avLst/>
          </a:prstGeom>
          <a:solidFill>
            <a:srgbClr val="F28E2B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005840"/>
            <a:ext cx="3657600" cy="1645920"/>
          </a:xfrm>
          <a:prstGeom prst="rect">
            <a:avLst/>
          </a:prstGeom>
          <a:solidFill>
            <a:srgbClr val="FAFAFA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005840"/>
            <a:ext cx="54864" cy="1645920"/>
          </a:xfrm>
          <a:prstGeom prst="rect">
            <a:avLst/>
          </a:prstGeom>
          <a:solidFill>
            <a:srgbClr val="F28E2B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11556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8E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분석 목적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85800" y="1463040"/>
            <a:ext cx="3200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패키지 출시로 인한 OVR 가격 하락이</a:t>
            </a:r>
            <a:endParaRPr lang="en-US" sz="10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구단가치 감소 → 유저 이탈 → 매출 손실로</a:t>
            </a:r>
            <a:endParaRPr lang="en-US" sz="10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이어지는 인과 체인 검증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0" y="1005840"/>
            <a:ext cx="3657600" cy="1645920"/>
          </a:xfrm>
          <a:prstGeom prst="rect">
            <a:avLst/>
          </a:prstGeom>
          <a:solidFill>
            <a:srgbClr val="FAFAFA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0" y="1005840"/>
            <a:ext cx="54864" cy="1645920"/>
          </a:xfrm>
          <a:prstGeom prst="rect">
            <a:avLst/>
          </a:prstGeom>
          <a:solidFill>
            <a:srgbClr val="F28E2B"/>
          </a:solidFill>
          <a:ln/>
        </p:spPr>
      </p:sp>
      <p:sp>
        <p:nvSpPr>
          <p:cNvPr id="11" name="Text 9"/>
          <p:cNvSpPr/>
          <p:nvPr/>
        </p:nvSpPr>
        <p:spPr>
          <a:xfrm>
            <a:off x="4800600" y="111556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8E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규모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800600" y="1463040"/>
            <a:ext cx="3200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유저 프로필 50,000건</a:t>
            </a:r>
            <a:endParaRPr lang="en-US" sz="10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로그인 로그 3,470,000건</a:t>
            </a:r>
            <a:endParaRPr lang="en-US" sz="10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패키지 구매 84,800건</a:t>
            </a:r>
            <a:endParaRPr lang="en-US" sz="10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거래소 32,000건 / 구단가치 480,000건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2926080"/>
            <a:ext cx="3657600" cy="1645920"/>
          </a:xfrm>
          <a:prstGeom prst="rect">
            <a:avLst/>
          </a:prstGeom>
          <a:solidFill>
            <a:srgbClr val="FAFAFA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2926080"/>
            <a:ext cx="54864" cy="1645920"/>
          </a:xfrm>
          <a:prstGeom prst="rect">
            <a:avLst/>
          </a:prstGeom>
          <a:solidFill>
            <a:srgbClr val="F28E2B"/>
          </a:solidFill>
          <a:ln/>
        </p:spPr>
      </p:sp>
      <p:sp>
        <p:nvSpPr>
          <p:cNvPr id="15" name="Text 13"/>
          <p:cNvSpPr/>
          <p:nvPr/>
        </p:nvSpPr>
        <p:spPr>
          <a:xfrm>
            <a:off x="685800" y="303580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8E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분석 방법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85800" y="3383280"/>
            <a:ext cx="3200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K-Means 클러스터링(k=4)</a:t>
            </a:r>
            <a:endParaRPr lang="en-US" sz="10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DID(이중차분법) 분석</a:t>
            </a:r>
            <a:endParaRPr lang="en-US" sz="10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Random Forest + Logistic Regression</a:t>
            </a:r>
            <a:endParaRPr lang="en-US" sz="10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ML predict_proba 기반 시나리오 시뮬레이션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0" y="2926080"/>
            <a:ext cx="3657600" cy="1645920"/>
          </a:xfrm>
          <a:prstGeom prst="rect">
            <a:avLst/>
          </a:prstGeom>
          <a:solidFill>
            <a:srgbClr val="FAFAFA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0" y="2926080"/>
            <a:ext cx="54864" cy="1645920"/>
          </a:xfrm>
          <a:prstGeom prst="rect">
            <a:avLst/>
          </a:prstGeom>
          <a:solidFill>
            <a:srgbClr val="F28E2B"/>
          </a:solidFill>
          <a:ln/>
        </p:spPr>
      </p:sp>
      <p:sp>
        <p:nvSpPr>
          <p:cNvPr id="19" name="Text 17"/>
          <p:cNvSpPr/>
          <p:nvPr/>
        </p:nvSpPr>
        <p:spPr>
          <a:xfrm>
            <a:off x="4800600" y="303580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8E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결론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800600" y="3383280"/>
            <a:ext cx="3200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RF 모델 기반 최적 패키지 OVR: 131 (현행 132→1단계 하향)</a:t>
            </a:r>
            <a:endParaRPr lang="en-US" sz="10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총 기대수익 502.0억 / 이탈 손실 134.0억 / 순영향 +368.0억</a:t>
            </a:r>
            <a:endParaRPr lang="en-US" sz="10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현행 대비 +0.8억 개선 (이탈↓ → 잔존 유저 수익↑)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8046720" y="466344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23960" y="0"/>
            <a:ext cx="320040" cy="5143500"/>
          </a:xfrm>
          <a:prstGeom prst="rect">
            <a:avLst/>
          </a:prstGeom>
          <a:solidFill>
            <a:srgbClr val="F28E2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분석 프레임워크: 인과 체인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713232"/>
            <a:ext cx="1097280" cy="36576"/>
          </a:xfrm>
          <a:prstGeom prst="rect">
            <a:avLst/>
          </a:prstGeom>
          <a:solidFill>
            <a:srgbClr val="F28E2B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1371600"/>
            <a:ext cx="1463040" cy="1371600"/>
          </a:xfrm>
          <a:prstGeom prst="rect">
            <a:avLst/>
          </a:prstGeom>
          <a:solidFill>
            <a:srgbClr val="F5F5F5"/>
          </a:solidFill>
          <a:ln w="8890">
            <a:solidFill>
              <a:srgbClr val="E8E8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50876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패키지 출시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65760" y="1920240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높은 OVR 확률</a:t>
            </a:r>
            <a:endParaRPr lang="en-US" sz="9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(133: 40%, 130: 19%)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1828800" y="1874520"/>
            <a:ext cx="228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28E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2057400" y="1371600"/>
            <a:ext cx="1463040" cy="1371600"/>
          </a:xfrm>
          <a:prstGeom prst="rect">
            <a:avLst/>
          </a:prstGeom>
          <a:solidFill>
            <a:srgbClr val="F5F5F5"/>
          </a:solidFill>
          <a:ln w="8890">
            <a:solidFill>
              <a:srgbClr val="E8E8E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057400" y="150876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OVR 가격 하락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057400" y="1920240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공급 증가로</a:t>
            </a:r>
            <a:endParaRPr lang="en-US" sz="9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시세 하락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3520440" y="1874520"/>
            <a:ext cx="228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28E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3749040" y="1371600"/>
            <a:ext cx="1463040" cy="1371600"/>
          </a:xfrm>
          <a:prstGeom prst="rect">
            <a:avLst/>
          </a:prstGeom>
          <a:solidFill>
            <a:srgbClr val="F5F5F5"/>
          </a:solidFill>
          <a:ln w="8890">
            <a:solidFill>
              <a:srgbClr val="E8E8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749040" y="150876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구단가치 감소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749040" y="1920240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보유 선수 가치</a:t>
            </a:r>
            <a:endParaRPr lang="en-US" sz="9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하락 반영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212080" y="1874520"/>
            <a:ext cx="228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28E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440680" y="1371600"/>
            <a:ext cx="1463040" cy="1371600"/>
          </a:xfrm>
          <a:prstGeom prst="rect">
            <a:avLst/>
          </a:prstGeom>
          <a:solidFill>
            <a:srgbClr val="F5F5F5"/>
          </a:solidFill>
          <a:ln w="8890">
            <a:solidFill>
              <a:srgbClr val="E8E8E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40680" y="150876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유저 이탈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440680" y="1920240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10~100조 그룹</a:t>
            </a:r>
            <a:endParaRPr lang="en-US" sz="9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가장 민감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6903720" y="1874520"/>
            <a:ext cx="228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28E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7132320" y="1371600"/>
            <a:ext cx="1463040" cy="1371600"/>
          </a:xfrm>
          <a:prstGeom prst="rect">
            <a:avLst/>
          </a:prstGeom>
          <a:solidFill>
            <a:srgbClr val="FFF0E0"/>
          </a:solidFill>
          <a:ln w="8890">
            <a:solidFill>
              <a:srgbClr val="F28E2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132320" y="150876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매출 손실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132320" y="1920240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이탈 손실 &gt;</a:t>
            </a:r>
            <a:endParaRPr lang="en-US" sz="9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패키지 수익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57200" y="3200400"/>
            <a:ext cx="2560320" cy="1188720"/>
          </a:xfrm>
          <a:prstGeom prst="rect">
            <a:avLst/>
          </a:prstGeom>
          <a:solidFill>
            <a:srgbClr val="FFFFFF"/>
          </a:solidFill>
          <a:ln w="8890">
            <a:solidFill>
              <a:srgbClr val="F28E2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94360" y="32918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8E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가설 1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94360" y="361188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패키지 OVR과 겹치는 유저일수록 구단가치 하락 크다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291840" y="3200400"/>
            <a:ext cx="2560320" cy="1188720"/>
          </a:xfrm>
          <a:prstGeom prst="rect">
            <a:avLst/>
          </a:prstGeom>
          <a:solidFill>
            <a:srgbClr val="FFFFFF"/>
          </a:solidFill>
          <a:ln w="8890">
            <a:solidFill>
              <a:srgbClr val="F28E2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429000" y="32918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8E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가설 2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429000" y="361188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10~100조 그룹이 구단가치 변동에 가장 민감하게 이탈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126480" y="3200400"/>
            <a:ext cx="2560320" cy="1188720"/>
          </a:xfrm>
          <a:prstGeom prst="rect">
            <a:avLst/>
          </a:prstGeom>
          <a:solidFill>
            <a:srgbClr val="FFFFFF"/>
          </a:solidFill>
          <a:ln w="8890">
            <a:solidFill>
              <a:srgbClr val="F28E2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263640" y="32918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8E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가설 3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263640" y="361188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패키지로 인한 이탈 손실이 패키지 매출보다 크다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8046720" y="466344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23960" y="0"/>
            <a:ext cx="320040" cy="5143500"/>
          </a:xfrm>
          <a:prstGeom prst="rect">
            <a:avLst/>
          </a:prstGeom>
          <a:solidFill>
            <a:srgbClr val="F28E2B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1645920"/>
            <a:ext cx="457200" cy="73152"/>
          </a:xfrm>
          <a:prstGeom prst="rect">
            <a:avLst/>
          </a:prstGeom>
          <a:solidFill>
            <a:srgbClr val="F28E2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78308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  EDA 분석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256032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탐색적 데이터 분석을 통한 패턴 발견 및 가설 수립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046720" y="466344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23960" y="0"/>
            <a:ext cx="320040" cy="5143500"/>
          </a:xfrm>
          <a:prstGeom prst="rect">
            <a:avLst/>
          </a:prstGeom>
          <a:solidFill>
            <a:srgbClr val="F28E2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K-Means 클러스터링으로 유저 그룹 분류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57200" y="713232"/>
            <a:ext cx="1097280" cy="36576"/>
          </a:xfrm>
          <a:prstGeom prst="rect">
            <a:avLst/>
          </a:prstGeom>
          <a:solidFill>
            <a:srgbClr val="F28E2B"/>
          </a:solidFill>
          <a:ln/>
        </p:spPr>
      </p:sp>
      <p:sp>
        <p:nvSpPr>
          <p:cNvPr id="5" name="Shape 3"/>
          <p:cNvSpPr/>
          <p:nvPr/>
        </p:nvSpPr>
        <p:spPr>
          <a:xfrm>
            <a:off x="274320" y="960120"/>
            <a:ext cx="4480560" cy="3566160"/>
          </a:xfrm>
          <a:prstGeom prst="rect">
            <a:avLst/>
          </a:prstGeom>
          <a:solidFill>
            <a:srgbClr val="F8F8F8"/>
          </a:solidFill>
          <a:ln w="6350">
            <a:solidFill>
              <a:srgbClr val="E8E8E8"/>
            </a:solidFill>
            <a:prstDash val="solid"/>
          </a:ln>
        </p:spPr>
      </p:sp>
      <p:pic>
        <p:nvPicPr>
          <p:cNvPr id="6" name="Image 0" descr="/sessions/ecstatic-fervent-ptolemy/mnt/데이터분석 프로젝트 코드 구현화작업/fc_online4_analysis/outputs/figures/fig_01_kmeans_elbow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20040" y="1005840"/>
            <a:ext cx="4389120" cy="34747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983480" y="1005840"/>
            <a:ext cx="324612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28E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분석 목적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50,000명의 유저를 구단가치 기반으로 의미있는 그룹으로 분류하여 그룹별 행동 패턴을 파악합니다.</a:t>
            </a:r>
            <a:endParaRPr lang="en-US" sz="1300" dirty="0"/>
          </a:p>
          <a:p>
            <a:pPr indent="0" marL="0">
              <a:spcBef>
                <a:spcPts val="800"/>
              </a:spcBef>
              <a:buNone/>
            </a:pPr>
            <a:r>
              <a:rPr lang="en-US" sz="1300" b="1" dirty="0">
                <a:solidFill>
                  <a:srgbClr val="F28E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방법론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Elbow Method로 최적 k=4 결정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구단가치(club_value) 단일 피처 사용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Z-score 기반 이상치 제거 (z &lt; -2)</a:t>
            </a:r>
            <a:endParaRPr lang="en-US" sz="1300" dirty="0"/>
          </a:p>
          <a:p>
            <a:pPr indent="0" marL="0">
              <a:spcBef>
                <a:spcPts val="800"/>
              </a:spcBef>
              <a:buNone/>
            </a:pPr>
            <a:r>
              <a:rPr lang="en-US" sz="1300" b="1" dirty="0">
                <a:solidFill>
                  <a:srgbClr val="F28E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분류 결과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0~10조: 7% (캐주얼 유저)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10~100조: 54% (핵심 유저층)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100~1000조: 35% (고투자 유저)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1000조 이상: 4% (최상위)</a:t>
            </a:r>
            <a:endParaRPr lang="en-US" sz="1300" dirty="0"/>
          </a:p>
          <a:p>
            <a:pPr indent="0" marL="0">
              <a:spcBef>
                <a:spcPts val="800"/>
              </a:spcBef>
              <a:buNone/>
            </a:pPr>
            <a:r>
              <a:rPr lang="en-US" sz="1300" b="1" dirty="0">
                <a:solidFill>
                  <a:srgbClr val="F28E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인사이트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전체 유저의 54%가 10~100조 그룹에 집중. 이 그룹의 행동 변화가 전체 생태계에 가장 큰 영향을 미칩니다.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046720" y="466344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23960" y="0"/>
            <a:ext cx="320040" cy="5143500"/>
          </a:xfrm>
          <a:prstGeom prst="rect">
            <a:avLst/>
          </a:prstGeom>
          <a:solidFill>
            <a:srgbClr val="F28E2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그룹별 유저 분포 및 OVR 분포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57200" y="713232"/>
            <a:ext cx="1097280" cy="36576"/>
          </a:xfrm>
          <a:prstGeom prst="rect">
            <a:avLst/>
          </a:prstGeom>
          <a:solidFill>
            <a:srgbClr val="F28E2B"/>
          </a:solidFill>
          <a:ln/>
        </p:spPr>
      </p:sp>
      <p:pic>
        <p:nvPicPr>
          <p:cNvPr id="5" name="Image 0" descr="/sessions/ecstatic-fervent-ptolemy/mnt/데이터분석 프로젝트 코드 구현화작업/fc_online4_analysis/outputs/figures/fig_02_group_distributio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4320" y="914400"/>
            <a:ext cx="3931920" cy="2560320"/>
          </a:xfrm>
          <a:prstGeom prst="rect">
            <a:avLst/>
          </a:prstGeom>
        </p:spPr>
      </p:pic>
      <p:pic>
        <p:nvPicPr>
          <p:cNvPr id="6" name="Image 1" descr="/sessions/ecstatic-fervent-ptolemy/mnt/데이터분석 프로젝트 코드 구현화작업/fc_online4_analysis/outputs/figures/fig_02_ovr_violin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389120" y="914400"/>
            <a:ext cx="3931920" cy="256032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57200" y="3657600"/>
            <a:ext cx="77724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좌측: 구단가치 기준 4개 그룹의 유저 수와 비율. 10~100조 그룹이 54%로 최대 비중.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우측: 그룹별 보유 선수 OVR 분포. 상위 그룹일수록 130+ OVR 선수 보유 비율이 높아, 패키지 출시 시 가격 하락 영향을 직접 받는 구간에 위치합니다.</a:t>
            </a:r>
            <a:endParaRPr lang="en-US" sz="1050" dirty="0"/>
          </a:p>
        </p:txBody>
      </p:sp>
      <p:sp>
        <p:nvSpPr>
          <p:cNvPr id="8" name="Text 4"/>
          <p:cNvSpPr/>
          <p:nvPr/>
        </p:nvSpPr>
        <p:spPr>
          <a:xfrm>
            <a:off x="8046720" y="466344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23960" y="0"/>
            <a:ext cx="320040" cy="5143500"/>
          </a:xfrm>
          <a:prstGeom prst="rect">
            <a:avLst/>
          </a:prstGeom>
          <a:solidFill>
            <a:srgbClr val="F28E2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패키지 OVR별 등장 확률 및 평균 가격 (버블차트)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57200" y="713232"/>
            <a:ext cx="1097280" cy="36576"/>
          </a:xfrm>
          <a:prstGeom prst="rect">
            <a:avLst/>
          </a:prstGeom>
          <a:solidFill>
            <a:srgbClr val="F28E2B"/>
          </a:solidFill>
          <a:ln/>
        </p:spPr>
      </p:sp>
      <p:sp>
        <p:nvSpPr>
          <p:cNvPr id="5" name="Shape 3"/>
          <p:cNvSpPr/>
          <p:nvPr/>
        </p:nvSpPr>
        <p:spPr>
          <a:xfrm>
            <a:off x="274320" y="960120"/>
            <a:ext cx="4480560" cy="3566160"/>
          </a:xfrm>
          <a:prstGeom prst="rect">
            <a:avLst/>
          </a:prstGeom>
          <a:solidFill>
            <a:srgbClr val="F8F8F8"/>
          </a:solidFill>
          <a:ln w="6350">
            <a:solidFill>
              <a:srgbClr val="E8E8E8"/>
            </a:solidFill>
            <a:prstDash val="solid"/>
          </a:ln>
        </p:spPr>
      </p:sp>
      <p:pic>
        <p:nvPicPr>
          <p:cNvPr id="6" name="Image 0" descr="/sessions/ecstatic-fervent-ptolemy/mnt/데이터분석 프로젝트 코드 구현화작업/fc_online4_analysis/outputs/figures/fig_03_ovr_bubbl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20040" y="1005840"/>
            <a:ext cx="4389120" cy="34747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983480" y="1005840"/>
            <a:ext cx="324612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28E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분석 목적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패키지를 구매했을 때 어떤 OVR의 선수가 얼마나 자주, 어떤 가격대로 등장하는지를 시각화합니다.</a:t>
            </a:r>
            <a:endParaRPr lang="en-US" sz="1300" dirty="0"/>
          </a:p>
          <a:p>
            <a:pPr indent="0" marL="0">
              <a:spcBef>
                <a:spcPts val="800"/>
              </a:spcBef>
              <a:buNone/>
            </a:pPr>
            <a:r>
              <a:rPr lang="en-US" sz="1300" b="1" dirty="0">
                <a:solidFill>
                  <a:srgbClr val="F28E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읽는 법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X축: 선수 OVR (능력치)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Y축: 평균 패키지 가격 (원)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버블 크기/색상: 해당 OVR 등장 비율 (%)</a:t>
            </a:r>
            <a:endParaRPr lang="en-US" sz="1300" dirty="0"/>
          </a:p>
          <a:p>
            <a:pPr indent="0" marL="0">
              <a:spcBef>
                <a:spcPts val="800"/>
              </a:spcBef>
              <a:buNone/>
            </a:pPr>
            <a:r>
              <a:rPr lang="en-US" sz="1300" b="1" dirty="0">
                <a:solidFill>
                  <a:srgbClr val="F28E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발견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OVR 133이 40%로 압도적 최다 등장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OVR 130이 19%로 두 번째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OVR 135(5%), 136(1%) 등 고OVR은 매우 희귀</a:t>
            </a:r>
            <a:endParaRPr lang="en-US" sz="1300" dirty="0"/>
          </a:p>
          <a:p>
            <a:pPr indent="0" marL="0">
              <a:spcBef>
                <a:spcPts val="800"/>
              </a:spcBef>
              <a:buNone/>
            </a:pPr>
            <a:r>
              <a:rPr lang="en-US" sz="1300" b="1" dirty="0">
                <a:solidFill>
                  <a:srgbClr val="F28E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시사점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패키지를 통해 OVR 130~133 선수가 대량 공급되어, 해당 OVR 선수의 거래소 가격 하락을 직접 유발합니다. 이 OVR을 보유한 유저(주로 10~100조 그룹)가 피해를 입는 구조입니다.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046720" y="466344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23960" y="0"/>
            <a:ext cx="320040" cy="5143500"/>
          </a:xfrm>
          <a:prstGeom prst="rect">
            <a:avLst/>
          </a:prstGeom>
          <a:solidFill>
            <a:srgbClr val="F28E2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패키지 구매 패턴 분석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57200" y="713232"/>
            <a:ext cx="1097280" cy="36576"/>
          </a:xfrm>
          <a:prstGeom prst="rect">
            <a:avLst/>
          </a:prstGeom>
          <a:solidFill>
            <a:srgbClr val="F28E2B"/>
          </a:solidFill>
          <a:ln/>
        </p:spPr>
      </p:sp>
      <p:sp>
        <p:nvSpPr>
          <p:cNvPr id="5" name="Shape 3"/>
          <p:cNvSpPr/>
          <p:nvPr/>
        </p:nvSpPr>
        <p:spPr>
          <a:xfrm>
            <a:off x="274320" y="960120"/>
            <a:ext cx="4480560" cy="3566160"/>
          </a:xfrm>
          <a:prstGeom prst="rect">
            <a:avLst/>
          </a:prstGeom>
          <a:solidFill>
            <a:srgbClr val="F8F8F8"/>
          </a:solidFill>
          <a:ln w="6350">
            <a:solidFill>
              <a:srgbClr val="E8E8E8"/>
            </a:solidFill>
            <a:prstDash val="solid"/>
          </a:ln>
        </p:spPr>
      </p:sp>
      <p:pic>
        <p:nvPicPr>
          <p:cNvPr id="6" name="Image 0" descr="/sessions/ecstatic-fervent-ptolemy/mnt/데이터분석 프로젝트 코드 구현화작업/fc_online4_analysis/outputs/figures/fig_05_package_sale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20040" y="1005840"/>
            <a:ext cx="4389120" cy="34747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983480" y="1005840"/>
            <a:ext cx="324612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28E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패키지 구매 로그 84,800건을 분석하여 출시일 전후 구매 행태를 파악합니다.</a:t>
            </a:r>
            <a:endParaRPr lang="en-US" sz="1300" dirty="0"/>
          </a:p>
          <a:p>
            <a:pPr indent="0" marL="0">
              <a:spcBef>
                <a:spcPts val="800"/>
              </a:spcBef>
              <a:buNone/>
            </a:pPr>
            <a:r>
              <a:rPr lang="en-US" sz="1300" b="1" dirty="0">
                <a:solidFill>
                  <a:srgbClr val="F28E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관찰 결과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패키지 출시 직후 1~3일간 구매 급증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구매는 1주 이내 급감 (단기 소비)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3차 패키지(3/20)로 갈수록 구매량 감소</a:t>
            </a:r>
            <a:endParaRPr lang="en-US" sz="1300" dirty="0"/>
          </a:p>
          <a:p>
            <a:pPr indent="0" marL="0">
              <a:spcBef>
                <a:spcPts val="800"/>
              </a:spcBef>
              <a:buNone/>
            </a:pPr>
            <a:r>
              <a:rPr lang="en-US" sz="1300" b="1" dirty="0">
                <a:solidFill>
                  <a:srgbClr val="F28E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그룹별 차이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10~100조 그룹이 전체 구매의 가장 큰 비중을 차지하며, 100~1000조 그룹이 건당 평균 구매액이 가장 높습니다.</a:t>
            </a:r>
            <a:endParaRPr lang="en-US" sz="1300" dirty="0"/>
          </a:p>
          <a:p>
            <a:pPr indent="0" marL="0">
              <a:spcBef>
                <a:spcPts val="800"/>
              </a:spcBef>
              <a:buNone/>
            </a:pPr>
            <a:r>
              <a:rPr lang="en-US" sz="1300" b="1" dirty="0">
                <a:solidFill>
                  <a:srgbClr val="F28E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시사점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패키지 매출은 출시 후 단기간에 집중되지만, 이로 인한 시장 교란 효과는 수주간 지속됩니다.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046720" y="466344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23960" y="0"/>
            <a:ext cx="320040" cy="5143500"/>
          </a:xfrm>
          <a:prstGeom prst="rect">
            <a:avLst/>
          </a:prstGeom>
          <a:solidFill>
            <a:srgbClr val="F28E2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OVR별 선수 가격 변동 추이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57200" y="713232"/>
            <a:ext cx="1097280" cy="36576"/>
          </a:xfrm>
          <a:prstGeom prst="rect">
            <a:avLst/>
          </a:prstGeom>
          <a:solidFill>
            <a:srgbClr val="F28E2B"/>
          </a:solidFill>
          <a:ln/>
        </p:spPr>
      </p:sp>
      <p:sp>
        <p:nvSpPr>
          <p:cNvPr id="5" name="Shape 3"/>
          <p:cNvSpPr/>
          <p:nvPr/>
        </p:nvSpPr>
        <p:spPr>
          <a:xfrm>
            <a:off x="274320" y="960120"/>
            <a:ext cx="4480560" cy="3566160"/>
          </a:xfrm>
          <a:prstGeom prst="rect">
            <a:avLst/>
          </a:prstGeom>
          <a:solidFill>
            <a:srgbClr val="F8F8F8"/>
          </a:solidFill>
          <a:ln w="6350">
            <a:solidFill>
              <a:srgbClr val="E8E8E8"/>
            </a:solidFill>
            <a:prstDash val="solid"/>
          </a:ln>
        </p:spPr>
      </p:sp>
      <p:pic>
        <p:nvPicPr>
          <p:cNvPr id="6" name="Image 0" descr="/sessions/ecstatic-fervent-ptolemy/mnt/데이터분석 프로젝트 코드 구현화작업/fc_online4_analysis/outputs/figures/fig_08_ovr_price_tren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20040" y="1005840"/>
            <a:ext cx="4389120" cy="34747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983480" y="1005840"/>
            <a:ext cx="324612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28E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분석 대상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거래소 32,000건의 거래 데이터에서 OVR별 평균 거래 가격의 시계열 변화를 추적합니다.</a:t>
            </a:r>
            <a:endParaRPr lang="en-US" sz="1300" dirty="0"/>
          </a:p>
          <a:p>
            <a:pPr indent="0" marL="0">
              <a:spcBef>
                <a:spcPts val="800"/>
              </a:spcBef>
              <a:buNone/>
            </a:pPr>
            <a:r>
              <a:rPr lang="en-US" sz="1300" b="1" dirty="0">
                <a:solidFill>
                  <a:srgbClr val="F28E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주요 발견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패키지 높은확률 OVR(130~134)의 가격이 출시 후 큰 폭으로 하락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특히 OVR 133(40% 확률)의 하락폭이 가장 뚜렷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OVR 136+(1% 확률)은 상대적으로 가격 안정</a:t>
            </a:r>
            <a:endParaRPr lang="en-US" sz="1300" dirty="0"/>
          </a:p>
          <a:p>
            <a:pPr indent="0" marL="0">
              <a:spcBef>
                <a:spcPts val="800"/>
              </a:spcBef>
              <a:buNone/>
            </a:pPr>
            <a:r>
              <a:rPr lang="en-US" sz="1300" b="1" dirty="0">
                <a:solidFill>
                  <a:srgbClr val="F28E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메커니즘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패키지를 통한 해당 OVR 선수의 공급 증가가 직접적인 가격 하락 요인. 공급 확률이 높은 OVR일수록 하락폭이 커, 패키지 OVR 확률 설계가 시장에 미치는 영향이 확인됩니다.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046720" y="466344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23960" y="0"/>
            <a:ext cx="320040" cy="5143500"/>
          </a:xfrm>
          <a:prstGeom prst="rect">
            <a:avLst/>
          </a:prstGeom>
          <a:solidFill>
            <a:srgbClr val="F28E2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그룹별 구단가치 변동 추이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57200" y="713232"/>
            <a:ext cx="1097280" cy="36576"/>
          </a:xfrm>
          <a:prstGeom prst="rect">
            <a:avLst/>
          </a:prstGeom>
          <a:solidFill>
            <a:srgbClr val="F28E2B"/>
          </a:solidFill>
          <a:ln/>
        </p:spPr>
      </p:sp>
      <p:sp>
        <p:nvSpPr>
          <p:cNvPr id="5" name="Shape 3"/>
          <p:cNvSpPr/>
          <p:nvPr/>
        </p:nvSpPr>
        <p:spPr>
          <a:xfrm>
            <a:off x="274320" y="960120"/>
            <a:ext cx="4480560" cy="3566160"/>
          </a:xfrm>
          <a:prstGeom prst="rect">
            <a:avLst/>
          </a:prstGeom>
          <a:solidFill>
            <a:srgbClr val="F8F8F8"/>
          </a:solidFill>
          <a:ln w="6350">
            <a:solidFill>
              <a:srgbClr val="E8E8E8"/>
            </a:solidFill>
            <a:prstDash val="solid"/>
          </a:ln>
        </p:spPr>
      </p:sp>
      <p:pic>
        <p:nvPicPr>
          <p:cNvPr id="6" name="Image 0" descr="/sessions/ecstatic-fervent-ptolemy/mnt/데이터분석 프로젝트 코드 구현화작업/fc_online4_analysis/outputs/figures/fig_07_club_value_index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20040" y="1005840"/>
            <a:ext cx="4389120" cy="34747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983480" y="1005840"/>
            <a:ext cx="324612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28E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분석 방법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48만 건의 일별 구단가치 데이터를 그룹별로 집계하여 패키지 출시 전후 변동을 추적합니다.</a:t>
            </a:r>
            <a:endParaRPr lang="en-US" sz="1300" dirty="0"/>
          </a:p>
          <a:p>
            <a:pPr indent="0" marL="0">
              <a:spcBef>
                <a:spcPts val="800"/>
              </a:spcBef>
              <a:buNone/>
            </a:pPr>
            <a:r>
              <a:rPr lang="en-US" sz="1300" b="1" dirty="0">
                <a:solidFill>
                  <a:srgbClr val="F28E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관찰 결과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1차 패키지(1/18) 이후 모든 그룹에서 구단가치 하락 시작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2·3차 패키지에서 하락이 누적되어 심화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10~100조 그룹의 하락률이 가장 크게 관찰</a:t>
            </a:r>
            <a:endParaRPr lang="en-US" sz="1300" dirty="0"/>
          </a:p>
          <a:p>
            <a:pPr indent="0" marL="0">
              <a:spcBef>
                <a:spcPts val="800"/>
              </a:spcBef>
              <a:buNone/>
            </a:pPr>
            <a:r>
              <a:rPr lang="en-US" sz="1300" b="1" dirty="0">
                <a:solidFill>
                  <a:srgbClr val="F28E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10~100조 그룹인가?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그룹의 보유 선수 OVR이 패키지 높은확률 구간(130~134)과 가장 많이 겹치기 때문입니다. 보유 선수의 시세 하락이 곧바로 구단가치 감소로 이어집니다.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046720" y="466344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23960" y="0"/>
            <a:ext cx="320040" cy="5143500"/>
          </a:xfrm>
          <a:prstGeom prst="rect">
            <a:avLst/>
          </a:prstGeom>
          <a:solidFill>
            <a:srgbClr val="F28E2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DID(이중차분법) 분석 — 패키지 전후 비교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57200" y="713232"/>
            <a:ext cx="1097280" cy="36576"/>
          </a:xfrm>
          <a:prstGeom prst="rect">
            <a:avLst/>
          </a:prstGeom>
          <a:solidFill>
            <a:srgbClr val="F28E2B"/>
          </a:solidFill>
          <a:ln/>
        </p:spPr>
      </p:sp>
      <p:sp>
        <p:nvSpPr>
          <p:cNvPr id="5" name="Shape 3"/>
          <p:cNvSpPr/>
          <p:nvPr/>
        </p:nvSpPr>
        <p:spPr>
          <a:xfrm>
            <a:off x="274320" y="960120"/>
            <a:ext cx="4480560" cy="3566160"/>
          </a:xfrm>
          <a:prstGeom prst="rect">
            <a:avLst/>
          </a:prstGeom>
          <a:solidFill>
            <a:srgbClr val="F8F8F8"/>
          </a:solidFill>
          <a:ln w="6350">
            <a:solidFill>
              <a:srgbClr val="E8E8E8"/>
            </a:solidFill>
            <a:prstDash val="solid"/>
          </a:ln>
        </p:spPr>
      </p:sp>
      <p:pic>
        <p:nvPicPr>
          <p:cNvPr id="6" name="Image 0" descr="/sessions/ecstatic-fervent-ptolemy/mnt/데이터분석 프로젝트 코드 구현화작업/fc_online4_analysis/outputs/figures/fig_09_did_analysi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20040" y="1005840"/>
            <a:ext cx="4389120" cy="34747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983480" y="1005840"/>
            <a:ext cx="324612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28E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이중차분법(DID)이란?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처치 그룹(패키지 영향 受)과 통제 그룹의 전후 차이를 비교하여 패키지의 순수 효과를 분리하는 인과추론 방법입니다.</a:t>
            </a:r>
            <a:endParaRPr lang="en-US" sz="1300" dirty="0"/>
          </a:p>
          <a:p>
            <a:pPr indent="0" marL="0">
              <a:spcBef>
                <a:spcPts val="800"/>
              </a:spcBef>
              <a:buNone/>
            </a:pPr>
            <a:r>
              <a:rPr lang="en-US" sz="1300" b="1" dirty="0">
                <a:solidFill>
                  <a:srgbClr val="F28E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설계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처치 그룹: OVR 중첩도 상위 50% 유저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통제 그룹: OVR 중첩도 하위 50% 유저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전(before): 패키지 출시 전 | 후(after): 출시 후</a:t>
            </a:r>
            <a:endParaRPr lang="en-US" sz="1300" dirty="0"/>
          </a:p>
          <a:p>
            <a:pPr indent="0" marL="0">
              <a:spcBef>
                <a:spcPts val="800"/>
              </a:spcBef>
              <a:buNone/>
            </a:pPr>
            <a:r>
              <a:rPr lang="en-US" sz="1300" b="1" dirty="0">
                <a:solidFill>
                  <a:srgbClr val="F28E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처치 그룹의 구단가치 하락폭이 통제 그룹보다 유의하게 커, 패키지 출시가 구단가치 하락의 원인임을 통계적으로 확인합니다.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046720" y="466344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23960" y="0"/>
            <a:ext cx="320040" cy="5143500"/>
          </a:xfrm>
          <a:prstGeom prst="rect">
            <a:avLst/>
          </a:prstGeom>
          <a:solidFill>
            <a:srgbClr val="F28E2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그룹별 이탈률 및 구단가치 변동 민감도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57200" y="713232"/>
            <a:ext cx="1097280" cy="36576"/>
          </a:xfrm>
          <a:prstGeom prst="rect">
            <a:avLst/>
          </a:prstGeom>
          <a:solidFill>
            <a:srgbClr val="F28E2B"/>
          </a:solidFill>
          <a:ln/>
        </p:spPr>
      </p:sp>
      <p:pic>
        <p:nvPicPr>
          <p:cNvPr id="5" name="Image 0" descr="/sessions/ecstatic-fervent-ptolemy/mnt/데이터분석 프로젝트 코드 구현화작업/fc_online4_analysis/outputs/figures/fig_10_churn_by_group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4320" y="914400"/>
            <a:ext cx="3931920" cy="2560320"/>
          </a:xfrm>
          <a:prstGeom prst="rect">
            <a:avLst/>
          </a:prstGeom>
        </p:spPr>
      </p:pic>
      <p:pic>
        <p:nvPicPr>
          <p:cNvPr id="6" name="Image 1" descr="/sessions/ecstatic-fervent-ptolemy/mnt/데이터분석 프로젝트 코드 구현화작업/fc_online4_analysis/outputs/figures/fig_11_sensitivity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389120" y="914400"/>
            <a:ext cx="3931920" cy="256032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57200" y="3657600"/>
            <a:ext cx="77724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좌측: 그룹별 이탈률(30일 미접속 기준). 10~100조 그룹이 21.6%로 가장 높은 이탈률 기록.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우측: 구단가치 변동 대비 이탈 민감도 분석. 10~100조 그룹이 구단가치 하락에 가장 민감하게 반응하여, '투자 대비 보상 불만'이 이탈의 핵심 동인임을 시사합니다.</a:t>
            </a:r>
            <a:endParaRPr lang="en-US" sz="1050" dirty="0"/>
          </a:p>
        </p:txBody>
      </p:sp>
      <p:sp>
        <p:nvSpPr>
          <p:cNvPr id="8" name="Text 4"/>
          <p:cNvSpPr/>
          <p:nvPr/>
        </p:nvSpPr>
        <p:spPr>
          <a:xfrm>
            <a:off x="8046720" y="466344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23960" y="0"/>
            <a:ext cx="320040" cy="5143500"/>
          </a:xfrm>
          <a:prstGeom prst="rect">
            <a:avLst/>
          </a:prstGeom>
          <a:solidFill>
            <a:srgbClr val="F28E2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패키지 매출 vs 이탈 손실 비교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57200" y="713232"/>
            <a:ext cx="1097280" cy="36576"/>
          </a:xfrm>
          <a:prstGeom prst="rect">
            <a:avLst/>
          </a:prstGeom>
          <a:solidFill>
            <a:srgbClr val="F28E2B"/>
          </a:solidFill>
          <a:ln/>
        </p:spPr>
      </p:sp>
      <p:sp>
        <p:nvSpPr>
          <p:cNvPr id="5" name="Shape 3"/>
          <p:cNvSpPr/>
          <p:nvPr/>
        </p:nvSpPr>
        <p:spPr>
          <a:xfrm>
            <a:off x="274320" y="960120"/>
            <a:ext cx="4480560" cy="3566160"/>
          </a:xfrm>
          <a:prstGeom prst="rect">
            <a:avLst/>
          </a:prstGeom>
          <a:solidFill>
            <a:srgbClr val="F8F8F8"/>
          </a:solidFill>
          <a:ln w="6350">
            <a:solidFill>
              <a:srgbClr val="E8E8E8"/>
            </a:solidFill>
            <a:prstDash val="solid"/>
          </a:ln>
        </p:spPr>
      </p:sp>
      <p:pic>
        <p:nvPicPr>
          <p:cNvPr id="6" name="Image 0" descr="/sessions/ecstatic-fervent-ptolemy/mnt/데이터분석 프로젝트 코드 구현화작업/fc_online4_analysis/outputs/figures/fig_12_revenue_vs_los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20040" y="1005840"/>
            <a:ext cx="4389120" cy="34747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983480" y="1005840"/>
            <a:ext cx="324612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28E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산정 기준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패키지 매출: 실제 구매 로그 기반 집계 (~27억)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이탈 손실: 이탈 유저 × 월 멤버십 × 8개월 (~29억)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8개월 = 이탈 유저의 향후 기대수익 손실 기간</a:t>
            </a:r>
            <a:endParaRPr lang="en-US" sz="1300" dirty="0"/>
          </a:p>
          <a:p>
            <a:pPr indent="0" marL="0">
              <a:spcBef>
                <a:spcPts val="800"/>
              </a:spcBef>
              <a:buNone/>
            </a:pPr>
            <a:r>
              <a:rPr lang="en-US" sz="1300" b="1" dirty="0">
                <a:solidFill>
                  <a:srgbClr val="F28E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발견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패키지 매출 약 27억 원 대비 이탈로 인한 손실이 약 29억 원으로, 순손실 약 2.5억 원이 발생합니다.</a:t>
            </a:r>
            <a:endParaRPr lang="en-US" sz="1300" dirty="0"/>
          </a:p>
          <a:p>
            <a:pPr indent="0" marL="0">
              <a:spcBef>
                <a:spcPts val="800"/>
              </a:spcBef>
              <a:buNone/>
            </a:pPr>
            <a:r>
              <a:rPr lang="en-US" sz="1300" b="1" dirty="0">
                <a:solidFill>
                  <a:srgbClr val="F28E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그룹별 손실 구조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10~100조 그룹이 이탈 손실의 가장 큰 비중을 차지합니다. 유저 수가 많고(54%) 이탈률이 높아(21.6%) 손실이 집중됩니다.</a:t>
            </a:r>
            <a:endParaRPr lang="en-US" sz="1300" dirty="0"/>
          </a:p>
          <a:p>
            <a:pPr indent="0" marL="0">
              <a:spcBef>
                <a:spcPts val="800"/>
              </a:spcBef>
              <a:buNone/>
            </a:pPr>
            <a:r>
              <a:rPr lang="en-US" sz="1300" b="1" dirty="0">
                <a:solidFill>
                  <a:srgbClr val="F28E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결론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 패키지 정책은 단기 매출을 올리지만 장기적으로 순손실을 발생시키는 구조입니다.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046720" y="466344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23960" y="0"/>
            <a:ext cx="320040" cy="5143500"/>
          </a:xfrm>
          <a:prstGeom prst="rect">
            <a:avLst/>
          </a:prstGeom>
          <a:solidFill>
            <a:srgbClr val="F28E2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구단가치 그룹별 과금 구조 — 멤버십 티어 × 월 과금액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57200" y="713232"/>
            <a:ext cx="1097280" cy="36576"/>
          </a:xfrm>
          <a:prstGeom prst="rect">
            <a:avLst/>
          </a:prstGeom>
          <a:solidFill>
            <a:srgbClr val="F28E2B"/>
          </a:solidFill>
          <a:ln/>
        </p:spPr>
      </p:sp>
      <p:sp>
        <p:nvSpPr>
          <p:cNvPr id="5" name="Shape 3"/>
          <p:cNvSpPr/>
          <p:nvPr/>
        </p:nvSpPr>
        <p:spPr>
          <a:xfrm>
            <a:off x="274320" y="960120"/>
            <a:ext cx="4663440" cy="3566160"/>
          </a:xfrm>
          <a:prstGeom prst="rect">
            <a:avLst/>
          </a:prstGeom>
          <a:solidFill>
            <a:srgbClr val="F8F8F8"/>
          </a:solidFill>
          <a:ln w="6350">
            <a:solidFill>
              <a:srgbClr val="E8E8E8"/>
            </a:solidFill>
            <a:prstDash val="solid"/>
          </a:ln>
        </p:spPr>
      </p:sp>
      <p:pic>
        <p:nvPicPr>
          <p:cNvPr id="6" name="Image 0" descr="/sessions/ecstatic-fervent-ptolemy/mnt/데이터분석 프로젝트 코드 구현화작업/fc_online4_analysis/outputs/figures/fig_12c_group_tier_spending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20040" y="1005840"/>
            <a:ext cx="4572000" cy="34747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166360" y="1005840"/>
            <a:ext cx="306324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28E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멤버십 티어 분포 (좌)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구단가치가 높을수록 Diamond/Platinum 비중이 압도적으로 증가. 0~10조는 Bronze(50%) 중심, 1000조이상은 Diamond(72%) 중심.</a:t>
            </a:r>
            <a:endParaRPr lang="en-US" sz="1300" dirty="0"/>
          </a:p>
          <a:p>
            <a:pPr indent="0" marL="0">
              <a:spcBef>
                <a:spcPts val="800"/>
              </a:spcBef>
              <a:buNone/>
            </a:pPr>
            <a:r>
              <a:rPr lang="en-US" sz="1300" b="1" dirty="0">
                <a:solidFill>
                  <a:srgbClr val="F28E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월 기대수익 = 멤버십 + 과금 (우)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0~10조: 약 2만원/월 | 10~100조: 약 4.4만원/월 | 100~1000조: 약 13.5만원/월 | 1000조이상: 약 200만원/월</a:t>
            </a:r>
            <a:endParaRPr lang="en-US" sz="1300" dirty="0"/>
          </a:p>
          <a:p>
            <a:pPr indent="0" marL="0">
              <a:spcBef>
                <a:spcPts val="800"/>
              </a:spcBef>
              <a:buNone/>
            </a:pPr>
            <a:r>
              <a:rPr lang="en-US" sz="1300" b="1" dirty="0">
                <a:solidFill>
                  <a:srgbClr val="F28E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1000조이상 유저 1인 = 10~100조 유저의 약 45배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1인당 월 기대수익은 1000조이상이 압도적이지만, 전체 유저의 4%에 불과하여 이탈 시 개별 손실은 크지만 총규모는 제한적.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046720" y="466344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23960" y="0"/>
            <a:ext cx="320040" cy="5143500"/>
          </a:xfrm>
          <a:prstGeom prst="rect">
            <a:avLst/>
          </a:prstGeom>
          <a:solidFill>
            <a:srgbClr val="F28E2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패키지 출시가 게임사 영업이익에 미치는 영향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57200" y="713232"/>
            <a:ext cx="1097280" cy="36576"/>
          </a:xfrm>
          <a:prstGeom prst="rect">
            <a:avLst/>
          </a:prstGeom>
          <a:solidFill>
            <a:srgbClr val="F28E2B"/>
          </a:solidFill>
          <a:ln/>
        </p:spPr>
      </p:sp>
      <p:sp>
        <p:nvSpPr>
          <p:cNvPr id="5" name="Shape 3"/>
          <p:cNvSpPr/>
          <p:nvPr/>
        </p:nvSpPr>
        <p:spPr>
          <a:xfrm>
            <a:off x="274320" y="960120"/>
            <a:ext cx="4663440" cy="3566160"/>
          </a:xfrm>
          <a:prstGeom prst="rect">
            <a:avLst/>
          </a:prstGeom>
          <a:solidFill>
            <a:srgbClr val="F8F8F8"/>
          </a:solidFill>
          <a:ln w="6350">
            <a:solidFill>
              <a:srgbClr val="E8E8E8"/>
            </a:solidFill>
            <a:prstDash val="solid"/>
          </a:ln>
        </p:spPr>
      </p:sp>
      <p:pic>
        <p:nvPicPr>
          <p:cNvPr id="6" name="Image 0" descr="/sessions/ecstatic-fervent-ptolemy/mnt/데이터분석 프로젝트 코드 구현화작업/fc_online4_analysis/outputs/figures/fig_12b_why_mid_group_matter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20040" y="1005840"/>
            <a:ext cx="4572000" cy="34747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166360" y="1005840"/>
            <a:ext cx="306324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28E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1인당 기대수익은 1000조이상이 압도적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ARPU(멤버십+과금) 기준 1000조이상이 최고이나, 전체 유저의 4%. 10~100조(54%) + 100~1000조(35%) = 89%가 핵심 유저층.</a:t>
            </a:r>
            <a:endParaRPr lang="en-US" sz="1300" dirty="0"/>
          </a:p>
          <a:p>
            <a:pPr indent="0" marL="0">
              <a:spcBef>
                <a:spcPts val="800"/>
              </a:spcBef>
              <a:buNone/>
            </a:pPr>
            <a:r>
              <a:rPr lang="en-US" sz="1300" b="1" dirty="0">
                <a:solidFill>
                  <a:srgbClr val="F28E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패키지 출시 → 89% 핵심 유저층 대규모 이탈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이탈자 중 10~100조 + 100~1000조가 89% 차지. 이 두 그룹이 멤버십·과금·거래 전반의 매출 기반.</a:t>
            </a:r>
            <a:endParaRPr lang="en-US" sz="1300" dirty="0"/>
          </a:p>
          <a:p>
            <a:pPr indent="0" marL="0">
              <a:spcBef>
                <a:spcPts val="800"/>
              </a:spcBef>
              <a:buNone/>
            </a:pPr>
            <a:r>
              <a:rPr lang="en-US" sz="1300" b="1" dirty="0">
                <a:solidFill>
                  <a:srgbClr val="F28E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이탈 손실 분해 — 40% / 31% / 22% / 2%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10~100조 41%(이탈 규모 최대), 100~1000조 31%, 1000조이상 22%(인당 손실 최대), 0~10조 2%. 멤버십만이 아닌 과금 포함 시 균형적 분포.</a:t>
            </a:r>
            <a:endParaRPr lang="en-US" sz="1300" dirty="0"/>
          </a:p>
          <a:p>
            <a:pPr indent="0" marL="0">
              <a:spcBef>
                <a:spcPts val="800"/>
              </a:spcBef>
              <a:buNone/>
            </a:pPr>
            <a:r>
              <a:rPr lang="en-US" sz="1300" b="1" dirty="0">
                <a:solidFill>
                  <a:srgbClr val="F28E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영업이익 관점: 패키지 매출로 이탈 손실을 메울 수 없다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패키지 매출 27.5억 &lt; 핵심 유저층(89%) 이탈 손실 36.3억 &lt; 전체 손실 48.3억. 패키지 출시는 영업이익 구조적 악화 요인.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046720" y="466344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23960" y="0"/>
            <a:ext cx="320040" cy="5143500"/>
          </a:xfrm>
          <a:prstGeom prst="rect">
            <a:avLst/>
          </a:prstGeom>
          <a:solidFill>
            <a:srgbClr val="F28E2B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1645920"/>
            <a:ext cx="457200" cy="73152"/>
          </a:xfrm>
          <a:prstGeom prst="rect">
            <a:avLst/>
          </a:prstGeom>
          <a:solidFill>
            <a:srgbClr val="F28E2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78308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  가설 검증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256032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EDA에서 발견된 패턴을 통계적으로 검증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046720" y="466344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23960" y="0"/>
            <a:ext cx="320040" cy="5143500"/>
          </a:xfrm>
          <a:prstGeom prst="rect">
            <a:avLst/>
          </a:prstGeom>
          <a:solidFill>
            <a:srgbClr val="F28E2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[가설 1] OVR 중첩도 ↔ 구단가치 하락 관계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57200" y="713232"/>
            <a:ext cx="1097280" cy="36576"/>
          </a:xfrm>
          <a:prstGeom prst="rect">
            <a:avLst/>
          </a:prstGeom>
          <a:solidFill>
            <a:srgbClr val="F28E2B"/>
          </a:solidFill>
          <a:ln/>
        </p:spPr>
      </p:sp>
      <p:sp>
        <p:nvSpPr>
          <p:cNvPr id="5" name="Shape 3"/>
          <p:cNvSpPr/>
          <p:nvPr/>
        </p:nvSpPr>
        <p:spPr>
          <a:xfrm>
            <a:off x="274320" y="960120"/>
            <a:ext cx="4480560" cy="3566160"/>
          </a:xfrm>
          <a:prstGeom prst="rect">
            <a:avLst/>
          </a:prstGeom>
          <a:solidFill>
            <a:srgbClr val="F8F8F8"/>
          </a:solidFill>
          <a:ln w="6350">
            <a:solidFill>
              <a:srgbClr val="E8E8E8"/>
            </a:solidFill>
            <a:prstDash val="solid"/>
          </a:ln>
        </p:spPr>
      </p:sp>
      <p:pic>
        <p:nvPicPr>
          <p:cNvPr id="6" name="Image 0" descr="/sessions/ecstatic-fervent-ptolemy/mnt/데이터분석 프로젝트 코드 구현화작업/fc_online4_analysis/outputs/figures/fig_a1_ovr_overlap_declin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20040" y="1005840"/>
            <a:ext cx="4389120" cy="34747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983480" y="1005840"/>
            <a:ext cx="324612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28E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가설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유저 보유 OVR이 패키지 높은확률 OVR(130~134)과 많이 겹칠수록 구단가치 하락이 크다.</a:t>
            </a:r>
            <a:endParaRPr lang="en-US" sz="1300" dirty="0"/>
          </a:p>
          <a:p>
            <a:pPr indent="0" marL="0">
              <a:spcBef>
                <a:spcPts val="800"/>
              </a:spcBef>
              <a:buNone/>
            </a:pPr>
            <a:r>
              <a:rPr lang="en-US" sz="1300" b="1" dirty="0">
                <a:solidFill>
                  <a:srgbClr val="F28E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분석 방법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유저별 OVR 중첩도(%) 계산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패키지 전후 구단가치 변화율 측정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산점도 + 추세선으로 상관관계 시각화</a:t>
            </a:r>
            <a:endParaRPr lang="en-US" sz="1300" dirty="0"/>
          </a:p>
          <a:p>
            <a:pPr indent="0" marL="0">
              <a:spcBef>
                <a:spcPts val="800"/>
              </a:spcBef>
              <a:buNone/>
            </a:pPr>
            <a:r>
              <a:rPr lang="en-US" sz="1300" b="1" dirty="0">
                <a:solidFill>
                  <a:srgbClr val="F28E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OVR 중첩도가 높은 유저일수록 구단가치 하락폭이 큰 양의 상관관계가 확인됩니다. 패키지 OVR 확률이 직접적으로 특정 유저층의 자산 감소를 유발하는 메커니즘이 검증되었습니다.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046720" y="466344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23960" y="0"/>
            <a:ext cx="320040" cy="5143500"/>
          </a:xfrm>
          <a:prstGeom prst="rect">
            <a:avLst/>
          </a:prstGeom>
          <a:solidFill>
            <a:srgbClr val="F28E2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[가설 2] 패키지 전후 그룹별 구단가치 변화 (DID)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57200" y="713232"/>
            <a:ext cx="1097280" cy="36576"/>
          </a:xfrm>
          <a:prstGeom prst="rect">
            <a:avLst/>
          </a:prstGeom>
          <a:solidFill>
            <a:srgbClr val="F28E2B"/>
          </a:solidFill>
          <a:ln/>
        </p:spPr>
      </p:sp>
      <p:sp>
        <p:nvSpPr>
          <p:cNvPr id="5" name="Shape 3"/>
          <p:cNvSpPr/>
          <p:nvPr/>
        </p:nvSpPr>
        <p:spPr>
          <a:xfrm>
            <a:off x="274320" y="960120"/>
            <a:ext cx="4480560" cy="3566160"/>
          </a:xfrm>
          <a:prstGeom prst="rect">
            <a:avLst/>
          </a:prstGeom>
          <a:solidFill>
            <a:srgbClr val="F8F8F8"/>
          </a:solidFill>
          <a:ln w="6350">
            <a:solidFill>
              <a:srgbClr val="E8E8E8"/>
            </a:solidFill>
            <a:prstDash val="solid"/>
          </a:ln>
        </p:spPr>
      </p:sp>
      <p:pic>
        <p:nvPicPr>
          <p:cNvPr id="6" name="Image 0" descr="/sessions/ecstatic-fervent-ptolemy/mnt/데이터분석 프로젝트 코드 구현화작업/fc_online4_analysis/outputs/figures/fig_a2_pkg_before_after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20040" y="1005840"/>
            <a:ext cx="4389120" cy="34747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983480" y="1005840"/>
            <a:ext cx="324612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28E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가설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패키지 출시 전후로 10~100조 그룹의 구단가치 하락이 다른 그룹보다 유의하게 크다.</a:t>
            </a:r>
            <a:endParaRPr lang="en-US" sz="1300" dirty="0"/>
          </a:p>
          <a:p>
            <a:pPr indent="0" marL="0">
              <a:spcBef>
                <a:spcPts val="800"/>
              </a:spcBef>
              <a:buNone/>
            </a:pPr>
            <a:r>
              <a:rPr lang="en-US" sz="1300" b="1" dirty="0">
                <a:solidFill>
                  <a:srgbClr val="F28E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분석 방법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패키지 출시 전 2주 vs 출시 후 2주 비교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그룹별 구단가치 변화율 DID 분석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4개 그룹 간 차이 통계적 검증</a:t>
            </a:r>
            <a:endParaRPr lang="en-US" sz="1300" dirty="0"/>
          </a:p>
          <a:p>
            <a:pPr indent="0" marL="0">
              <a:spcBef>
                <a:spcPts val="800"/>
              </a:spcBef>
              <a:buNone/>
            </a:pPr>
            <a:r>
              <a:rPr lang="en-US" sz="1300" b="1" dirty="0">
                <a:solidFill>
                  <a:srgbClr val="F28E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10~100조 그룹의 구단가치 하락률이 타 그룹 대비 가장 크게 관찰. 해당 그룹의 보유 선수 OVR 분포가 패키지 OVR 구간과 가장 많이 겹치는 것이 원인으로 확인됩니다.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046720" y="466344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23960" y="0"/>
            <a:ext cx="320040" cy="5143500"/>
          </a:xfrm>
          <a:prstGeom prst="rect">
            <a:avLst/>
          </a:prstGeom>
          <a:solidFill>
            <a:srgbClr val="F28E2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[가설 3] 인과 체인: OVR 가격 하락 → 구단가치 하락 → 이탈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57200" y="713232"/>
            <a:ext cx="1097280" cy="36576"/>
          </a:xfrm>
          <a:prstGeom prst="rect">
            <a:avLst/>
          </a:prstGeom>
          <a:solidFill>
            <a:srgbClr val="F28E2B"/>
          </a:solidFill>
          <a:ln/>
        </p:spPr>
      </p:sp>
      <p:sp>
        <p:nvSpPr>
          <p:cNvPr id="5" name="Shape 3"/>
          <p:cNvSpPr/>
          <p:nvPr/>
        </p:nvSpPr>
        <p:spPr>
          <a:xfrm>
            <a:off x="274320" y="960120"/>
            <a:ext cx="4480560" cy="3566160"/>
          </a:xfrm>
          <a:prstGeom prst="rect">
            <a:avLst/>
          </a:prstGeom>
          <a:solidFill>
            <a:srgbClr val="F8F8F8"/>
          </a:solidFill>
          <a:ln w="6350">
            <a:solidFill>
              <a:srgbClr val="E8E8E8"/>
            </a:solidFill>
            <a:prstDash val="solid"/>
          </a:ln>
        </p:spPr>
      </p:sp>
      <p:pic>
        <p:nvPicPr>
          <p:cNvPr id="6" name="Image 0" descr="/sessions/ecstatic-fervent-ptolemy/mnt/데이터분석 프로젝트 코드 구현화작업/fc_online4_analysis/outputs/figures/fig_a3_causal_chai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20040" y="1005840"/>
            <a:ext cx="4389120" cy="34747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983480" y="1005840"/>
            <a:ext cx="324612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28E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가설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OVR별 가격 하락률 → 해당 OVR 보유 유저의 구단가치 하락 → 이탈률 증가라는 3단계 인과 체인이 존재한다.</a:t>
            </a:r>
            <a:endParaRPr lang="en-US" sz="1300" dirty="0"/>
          </a:p>
          <a:p>
            <a:pPr indent="0" marL="0">
              <a:spcBef>
                <a:spcPts val="800"/>
              </a:spcBef>
              <a:buNone/>
            </a:pPr>
            <a:r>
              <a:rPr lang="en-US" sz="1300" b="1" dirty="0">
                <a:solidFill>
                  <a:srgbClr val="F28E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분석 방법 (2가지)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Pearson 상관: OVR별 가격 하락률 ↔ 구단가치 하락률 (r=0.872)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Granger Causality Test: 일별 OVR 가격 변화 → 구단가치 변화 시계열 인과 검증</a:t>
            </a:r>
            <a:endParaRPr lang="en-US" sz="1300" dirty="0"/>
          </a:p>
          <a:p>
            <a:pPr indent="0" marL="0">
              <a:spcBef>
                <a:spcPts val="800"/>
              </a:spcBef>
              <a:buNone/>
            </a:pPr>
            <a:r>
              <a:rPr lang="en-US" sz="1300" b="1" dirty="0">
                <a:solidFill>
                  <a:srgbClr val="F28E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Pearson r=0.872로 강한 상관 확인. Granger Test는 비유의(p&gt;0.05)로 일별 시계열에서는 인과 방향성이 통계적으로 확인되지 않음. DID에서 패키지 전후 구조적 변화는 확인되므로, 인과적 방향성이 시사되나 RCT(A/B Test) 없이 완전한 인과 증명은 불가.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046720" y="466344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19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23960" y="0"/>
            <a:ext cx="320040" cy="5143500"/>
          </a:xfrm>
          <a:prstGeom prst="rect">
            <a:avLst/>
          </a:prstGeom>
          <a:solidFill>
            <a:srgbClr val="F28E2B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1645920"/>
            <a:ext cx="457200" cy="73152"/>
          </a:xfrm>
          <a:prstGeom prst="rect">
            <a:avLst/>
          </a:prstGeom>
          <a:solidFill>
            <a:srgbClr val="F28E2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78308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  ML 이탈 예측 모델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256032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EDA와 가설 검증에서 확인된 피처로 이탈 예측 모델 구축 → joblib 저장 → 시나리오 시뮬레이션에 활용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046720" y="466344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23960" y="0"/>
            <a:ext cx="320040" cy="5143500"/>
          </a:xfrm>
          <a:prstGeom prst="rect">
            <a:avLst/>
          </a:prstGeom>
          <a:solidFill>
            <a:srgbClr val="F28E2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피처 설계 및 Feature Importance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57200" y="713232"/>
            <a:ext cx="1097280" cy="36576"/>
          </a:xfrm>
          <a:prstGeom prst="rect">
            <a:avLst/>
          </a:prstGeom>
          <a:solidFill>
            <a:srgbClr val="F28E2B"/>
          </a:solidFill>
          <a:ln/>
        </p:spPr>
      </p:sp>
      <p:sp>
        <p:nvSpPr>
          <p:cNvPr id="5" name="Shape 3"/>
          <p:cNvSpPr/>
          <p:nvPr/>
        </p:nvSpPr>
        <p:spPr>
          <a:xfrm>
            <a:off x="274320" y="960120"/>
            <a:ext cx="4206240" cy="3291840"/>
          </a:xfrm>
          <a:prstGeom prst="rect">
            <a:avLst/>
          </a:prstGeom>
          <a:solidFill>
            <a:srgbClr val="F8F8F8"/>
          </a:solidFill>
          <a:ln w="6350">
            <a:solidFill>
              <a:srgbClr val="E8E8E8"/>
            </a:solidFill>
            <a:prstDash val="solid"/>
          </a:ln>
        </p:spPr>
      </p:sp>
      <p:pic>
        <p:nvPicPr>
          <p:cNvPr id="6" name="Image 0" descr="/sessions/ecstatic-fervent-ptolemy/mnt/데이터분석 프로젝트 코드 구현화작업/fc_online4_analysis/outputs/figures/fig_16_feature_importanc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20040" y="1005840"/>
            <a:ext cx="4114800" cy="32004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709160" y="1005840"/>
            <a:ext cx="352044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28E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피처 선택 근거 (EDA 기반)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[가설1] ovr_pkg_overlap: 패키지 OVR 중첩도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[가설2] pkg_cv_change: 패키지 전후 구단가치 변화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[가설3] ovr_price_exposure: OVR 가격 노출도</a:t>
            </a:r>
            <a:endParaRPr lang="en-US" sz="1300" dirty="0"/>
          </a:p>
          <a:p>
            <a:pPr indent="0" marL="0">
              <a:spcBef>
                <a:spcPts val="800"/>
              </a:spcBef>
              <a:buNone/>
            </a:pPr>
            <a:r>
              <a:rPr lang="en-US" sz="1300" b="1" dirty="0">
                <a:solidFill>
                  <a:srgbClr val="F28E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시간 분할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관측기간(1/1~3/1)으로 피처 생성, 결과기간(3/1~4/30)으로 이탈 라벨 결정. 데이터 누수를 방지합니다.</a:t>
            </a:r>
            <a:endParaRPr lang="en-US" sz="1300" dirty="0"/>
          </a:p>
          <a:p>
            <a:pPr indent="0" marL="0">
              <a:spcBef>
                <a:spcPts val="800"/>
              </a:spcBef>
              <a:buNone/>
            </a:pPr>
            <a:r>
              <a:rPr lang="en-US" sz="1300" b="1" dirty="0">
                <a:solidFill>
                  <a:srgbClr val="F28E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중요도 결과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Random Forest 기준 pkg_cumulative_shock(패키지 누적 충격), ovr_pkg_overlap(OVR 중첩도)이 상위 피처로, EDA 가설과 일관된 결과입니다.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046720" y="466344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21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23960" y="0"/>
            <a:ext cx="320040" cy="5143500"/>
          </a:xfrm>
          <a:prstGeom prst="rect">
            <a:avLst/>
          </a:prstGeom>
          <a:solidFill>
            <a:srgbClr val="F28E2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 성능: ROC 곡선 및 혼동 행렬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57200" y="713232"/>
            <a:ext cx="1097280" cy="36576"/>
          </a:xfrm>
          <a:prstGeom prst="rect">
            <a:avLst/>
          </a:prstGeom>
          <a:solidFill>
            <a:srgbClr val="F28E2B"/>
          </a:solidFill>
          <a:ln/>
        </p:spPr>
      </p:sp>
      <p:pic>
        <p:nvPicPr>
          <p:cNvPr id="5" name="Image 0" descr="/sessions/ecstatic-fervent-ptolemy/mnt/데이터분석 프로젝트 코드 구현화작업/fc_online4_analysis/outputs/figures/fig_17_roc_curve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4320" y="914400"/>
            <a:ext cx="3931920" cy="2560320"/>
          </a:xfrm>
          <a:prstGeom prst="rect">
            <a:avLst/>
          </a:prstGeom>
        </p:spPr>
      </p:pic>
      <p:pic>
        <p:nvPicPr>
          <p:cNvPr id="6" name="Image 1" descr="/sessions/ecstatic-fervent-ptolemy/mnt/데이터분석 프로젝트 코드 구현화작업/fc_online4_analysis/outputs/figures/fig_18_confusion_matrix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389120" y="914400"/>
            <a:ext cx="3931920" cy="256032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57200" y="3657600"/>
            <a:ext cx="77724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좌측: Random Forest(AUC 0.727) vs Logistic Regression(AUC 0.713) ROC 곡선. RF가 소폭 우수.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우측: RF 혼동행렬. 정확도 74.1%, 이탈 유저 F1-Score 0.388. 이탈 예측은 보수적이나 False Positive을 낮게 유지하여 실무 활용에 적합합니다.</a:t>
            </a:r>
            <a:endParaRPr lang="en-US" sz="1050" dirty="0"/>
          </a:p>
        </p:txBody>
      </p:sp>
      <p:sp>
        <p:nvSpPr>
          <p:cNvPr id="8" name="Text 4"/>
          <p:cNvSpPr/>
          <p:nvPr/>
        </p:nvSpPr>
        <p:spPr>
          <a:xfrm>
            <a:off x="8046720" y="466344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22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23960" y="0"/>
            <a:ext cx="320040" cy="5143500"/>
          </a:xfrm>
          <a:prstGeom prst="rect">
            <a:avLst/>
          </a:prstGeom>
          <a:solidFill>
            <a:srgbClr val="F28E2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 비교 및 그룹별 예측 정확도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57200" y="713232"/>
            <a:ext cx="1097280" cy="36576"/>
          </a:xfrm>
          <a:prstGeom prst="rect">
            <a:avLst/>
          </a:prstGeom>
          <a:solidFill>
            <a:srgbClr val="F28E2B"/>
          </a:solidFill>
          <a:ln/>
        </p:spPr>
      </p:sp>
      <p:pic>
        <p:nvPicPr>
          <p:cNvPr id="5" name="Image 0" descr="/sessions/ecstatic-fervent-ptolemy/mnt/데이터분석 프로젝트 코드 구현화작업/fc_online4_analysis/outputs/figures/fig_19_model_compariso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4320" y="914400"/>
            <a:ext cx="3931920" cy="2560320"/>
          </a:xfrm>
          <a:prstGeom prst="rect">
            <a:avLst/>
          </a:prstGeom>
        </p:spPr>
      </p:pic>
      <p:pic>
        <p:nvPicPr>
          <p:cNvPr id="6" name="Image 1" descr="/sessions/ecstatic-fervent-ptolemy/mnt/데이터분석 프로젝트 코드 구현화작업/fc_online4_analysis/outputs/figures/fig_20_group_accuracy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389120" y="914400"/>
            <a:ext cx="3931920" cy="256032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57200" y="3657600"/>
            <a:ext cx="77724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좌측: RF vs LR 모델 성능 지표 비교. RF가 전반적으로 우수하나, LR은 해석 가능성 면에서 강점.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우측: 4개 그룹별 예측 정확도. 10~100조 그룹(이탈률 최고)에서 모델이 가장 잘 작동하여, 핵심 타겟 그룹에 대한 예측력이 검증되었습니다.</a:t>
            </a:r>
            <a:endParaRPr lang="en-US" sz="1050" dirty="0"/>
          </a:p>
        </p:txBody>
      </p:sp>
      <p:sp>
        <p:nvSpPr>
          <p:cNvPr id="8" name="Text 4"/>
          <p:cNvSpPr/>
          <p:nvPr/>
        </p:nvSpPr>
        <p:spPr>
          <a:xfrm>
            <a:off x="8046720" y="466344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23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23960" y="0"/>
            <a:ext cx="320040" cy="5143500"/>
          </a:xfrm>
          <a:prstGeom prst="rect">
            <a:avLst/>
          </a:prstGeom>
          <a:solidFill>
            <a:srgbClr val="F28E2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Logistic Regression 계수 해석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57200" y="713232"/>
            <a:ext cx="1097280" cy="36576"/>
          </a:xfrm>
          <a:prstGeom prst="rect">
            <a:avLst/>
          </a:prstGeom>
          <a:solidFill>
            <a:srgbClr val="F28E2B"/>
          </a:solidFill>
          <a:ln/>
        </p:spPr>
      </p:sp>
      <p:sp>
        <p:nvSpPr>
          <p:cNvPr id="5" name="Shape 3"/>
          <p:cNvSpPr/>
          <p:nvPr/>
        </p:nvSpPr>
        <p:spPr>
          <a:xfrm>
            <a:off x="274320" y="960120"/>
            <a:ext cx="4480560" cy="3566160"/>
          </a:xfrm>
          <a:prstGeom prst="rect">
            <a:avLst/>
          </a:prstGeom>
          <a:solidFill>
            <a:srgbClr val="F8F8F8"/>
          </a:solidFill>
          <a:ln w="6350">
            <a:solidFill>
              <a:srgbClr val="E8E8E8"/>
            </a:solidFill>
            <a:prstDash val="solid"/>
          </a:ln>
        </p:spPr>
      </p:sp>
      <p:pic>
        <p:nvPicPr>
          <p:cNvPr id="6" name="Image 0" descr="/sessions/ecstatic-fervent-ptolemy/mnt/데이터분석 프로젝트 코드 구현화작업/fc_online4_analysis/outputs/figures/fig_21_lr_coefficient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20040" y="1005840"/>
            <a:ext cx="4389120" cy="34747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983480" y="1005840"/>
            <a:ext cx="324612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28E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해석 가능성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Logistic Regression의 계수를 통해 각 피처가 이탈에 미치는 방향과 크기를 정량적으로 해석합니다.</a:t>
            </a:r>
            <a:endParaRPr lang="en-US" sz="1300" dirty="0"/>
          </a:p>
          <a:p>
            <a:pPr indent="0" marL="0">
              <a:spcBef>
                <a:spcPts val="800"/>
              </a:spcBef>
              <a:buNone/>
            </a:pPr>
            <a:r>
              <a:rPr lang="en-US" sz="1300" b="1" dirty="0">
                <a:solidFill>
                  <a:srgbClr val="F28E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주요 계수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pkg_cumulative_shock (+): 패키지 누적 충격 클수록 이탈 ↑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ovr_pkg_overlap (+): OVR 중첩도 높을수록 이탈 ↑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login_frequency (-): 로그인 빈도 높을수록 이탈 ↓</a:t>
            </a:r>
            <a:endParaRPr lang="en-US" sz="1300" dirty="0"/>
          </a:p>
          <a:p>
            <a:pPr indent="0" marL="0">
              <a:spcBef>
                <a:spcPts val="800"/>
              </a:spcBef>
              <a:buNone/>
            </a:pPr>
            <a:r>
              <a:rPr lang="en-US" sz="1300" b="1" dirty="0">
                <a:solidFill>
                  <a:srgbClr val="F28E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ML 모델의 역할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EDA에서 발견한 인과 관계를 ML이 재확인합니다. 패키지 관련 피처가 이탈의 주요 예측 인자이며, 학습된 모델을 joblib로 저장하여 Stage 4 시나리오 시뮬레이션에서 predict_proba()로 활용합니다.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046720" y="466344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24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23960" y="0"/>
            <a:ext cx="320040" cy="5143500"/>
          </a:xfrm>
          <a:prstGeom prst="rect">
            <a:avLst/>
          </a:prstGeom>
          <a:solidFill>
            <a:srgbClr val="F28E2B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1645920"/>
            <a:ext cx="457200" cy="73152"/>
          </a:xfrm>
          <a:prstGeom prst="rect">
            <a:avLst/>
          </a:prstGeom>
          <a:solidFill>
            <a:srgbClr val="F28E2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78308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  ML 기반 시나리오 시뮬레이션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256032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Stage 3 RF 모델 → predict_proba()로 패키지 OVR별 이탈률 직접 예측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046720" y="466344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25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23960" y="0"/>
            <a:ext cx="320040" cy="5143500"/>
          </a:xfrm>
          <a:prstGeom prst="rect">
            <a:avLst/>
          </a:prstGeom>
          <a:solidFill>
            <a:srgbClr val="F28E2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5가지 OVR 시나리오별 이탈률 비교 (ML 예측)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57200" y="713232"/>
            <a:ext cx="1097280" cy="36576"/>
          </a:xfrm>
          <a:prstGeom prst="rect">
            <a:avLst/>
          </a:prstGeom>
          <a:solidFill>
            <a:srgbClr val="F28E2B"/>
          </a:solidFill>
          <a:ln/>
        </p:spPr>
      </p:sp>
      <p:sp>
        <p:nvSpPr>
          <p:cNvPr id="5" name="Shape 3"/>
          <p:cNvSpPr/>
          <p:nvPr/>
        </p:nvSpPr>
        <p:spPr>
          <a:xfrm>
            <a:off x="274320" y="960120"/>
            <a:ext cx="4480560" cy="3566160"/>
          </a:xfrm>
          <a:prstGeom prst="rect">
            <a:avLst/>
          </a:prstGeom>
          <a:solidFill>
            <a:srgbClr val="F8F8F8"/>
          </a:solidFill>
          <a:ln w="6350">
            <a:solidFill>
              <a:srgbClr val="E8E8E8"/>
            </a:solidFill>
            <a:prstDash val="solid"/>
          </a:ln>
        </p:spPr>
      </p:sp>
      <p:pic>
        <p:nvPicPr>
          <p:cNvPr id="6" name="Image 0" descr="/sessions/ecstatic-fervent-ptolemy/mnt/데이터분석 프로젝트 코드 구현화작업/fc_online4_analysis/outputs/figures/fig_22_scenario_chur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20040" y="1005840"/>
            <a:ext cx="4389120" cy="34747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983480" y="1005840"/>
            <a:ext cx="324612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28E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예측 방식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Stage 3에서 학습한 RF 모델을 로드 → 시나리오별로 패키지 OVR 의존 피처만 재계산 → predict_proba()로 유저별 이탈 확률 직접 예측</a:t>
            </a:r>
            <a:endParaRPr lang="en-US" sz="1300" dirty="0"/>
          </a:p>
          <a:p>
            <a:pPr indent="0" marL="0">
              <a:spcBef>
                <a:spcPts val="800"/>
              </a:spcBef>
              <a:buNone/>
            </a:pPr>
            <a:r>
              <a:rPr lang="en-US" sz="1300" b="1" dirty="0">
                <a:solidFill>
                  <a:srgbClr val="F28E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5가지 시나리오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현행 (130~134): 중심 OVR 132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하향A (126~130): 저가 선수 중심 대폭 하향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소폭하향B (128~132): 현행 대비 OVR -2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상향C (134~138): 고가 선수 중심 상향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대폭상향D (136~140): 최고가 선수 중심</a:t>
            </a:r>
            <a:endParaRPr lang="en-US" sz="1300" dirty="0"/>
          </a:p>
          <a:p>
            <a:pPr indent="0" marL="0">
              <a:spcBef>
                <a:spcPts val="800"/>
              </a:spcBef>
              <a:buNone/>
            </a:pPr>
            <a:r>
              <a:rPr lang="en-US" sz="1300" b="1" dirty="0">
                <a:solidFill>
                  <a:srgbClr val="F28E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결과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현행 이탈률 39.8% (10~100조 51.6%). 손실 산정에 월 과금액 포함으로 고래 유저 이탈의 실제 영향 반영.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046720" y="466344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26</a:t>
            </a:r>
            <a:endParaRPr lang="en-US" sz="1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23960" y="0"/>
            <a:ext cx="320040" cy="5143500"/>
          </a:xfrm>
          <a:prstGeom prst="rect">
            <a:avLst/>
          </a:prstGeom>
          <a:solidFill>
            <a:srgbClr val="F28E2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시나리오별 패키지 매출 vs 이탈 손실 (ML 예측)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57200" y="713232"/>
            <a:ext cx="1097280" cy="36576"/>
          </a:xfrm>
          <a:prstGeom prst="rect">
            <a:avLst/>
          </a:prstGeom>
          <a:solidFill>
            <a:srgbClr val="F28E2B"/>
          </a:solidFill>
          <a:ln/>
        </p:spPr>
      </p:sp>
      <p:sp>
        <p:nvSpPr>
          <p:cNvPr id="5" name="Shape 3"/>
          <p:cNvSpPr/>
          <p:nvPr/>
        </p:nvSpPr>
        <p:spPr>
          <a:xfrm>
            <a:off x="274320" y="960120"/>
            <a:ext cx="4480560" cy="3566160"/>
          </a:xfrm>
          <a:prstGeom prst="rect">
            <a:avLst/>
          </a:prstGeom>
          <a:solidFill>
            <a:srgbClr val="F8F8F8"/>
          </a:solidFill>
          <a:ln w="6350">
            <a:solidFill>
              <a:srgbClr val="E8E8E8"/>
            </a:solidFill>
            <a:prstDash val="solid"/>
          </a:ln>
        </p:spPr>
      </p:sp>
      <p:pic>
        <p:nvPicPr>
          <p:cNvPr id="6" name="Image 0" descr="/sessions/ecstatic-fervent-ptolemy/mnt/데이터분석 프로젝트 코드 구현화작업/fc_online4_analysis/outputs/figures/fig_23_revenue_loss_scenario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20040" y="1005840"/>
            <a:ext cx="4389120" cy="34747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983480" y="1005840"/>
            <a:ext cx="324612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28E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매출 모델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총 기대수익 = 패키지 매출(OVR 133 중심 Gaussian) + 잔존 유저 기대수익(비이탈 유저 × 월 비용 × 8개월).</a:t>
            </a:r>
            <a:endParaRPr lang="en-US" sz="1300" dirty="0"/>
          </a:p>
          <a:p>
            <a:pPr indent="0" marL="0">
              <a:spcBef>
                <a:spcPts val="800"/>
              </a:spcBef>
              <a:buNone/>
            </a:pPr>
            <a:r>
              <a:rPr lang="en-US" sz="1300" b="1" dirty="0">
                <a:solidFill>
                  <a:srgbClr val="F28E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손실 산정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RF predict_proba 기반 이탈 유저 수 × (월 멤버십 + 월 과금) × 8개월로 기대수익 손실 산정.</a:t>
            </a:r>
            <a:endParaRPr lang="en-US" sz="1300" dirty="0"/>
          </a:p>
          <a:p>
            <a:pPr indent="0" marL="0">
              <a:spcBef>
                <a:spcPts val="800"/>
              </a:spcBef>
              <a:buNone/>
            </a:pPr>
            <a:r>
              <a:rPr lang="en-US" sz="1300" b="1" dirty="0">
                <a:solidFill>
                  <a:srgbClr val="F28E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시나리오별 순영향 (매출 = 패키지 + 잔존유저 기대수익)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현행(132): 매출 502.8억 / 손실 135.5억 / 순 +367.2억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하향A(128): 매출 493.8억 / 손실 130.5억 / 순 +363.3억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소폭하향B(130): 매출 499.7억 / 손실 132.8억 / 순 +366.9억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상향C(136): 매출 486.6억 / 손실 145.9억 / 순 +340.7억</a:t>
            </a:r>
            <a:endParaRPr lang="en-US" sz="1300" dirty="0"/>
          </a:p>
          <a:p>
            <a:pPr indent="0" marL="0">
              <a:spcBef>
                <a:spcPts val="800"/>
              </a:spcBef>
              <a:buNone/>
            </a:pPr>
            <a:r>
              <a:rPr lang="en-US" sz="1300" b="1" dirty="0">
                <a:solidFill>
                  <a:srgbClr val="F28E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시사점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현행(132) 순영향 +367.2억. 최적 OVR 131로 1단계 하향 시 +368.0억(+0.8억 개선). OVR 상향은 이탈 증가로 순영향 감소.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046720" y="466344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27</a:t>
            </a:r>
            <a:endParaRPr lang="en-US" sz="1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23960" y="0"/>
            <a:ext cx="320040" cy="5143500"/>
          </a:xfrm>
          <a:prstGeom prst="rect">
            <a:avLst/>
          </a:prstGeom>
          <a:solidFill>
            <a:srgbClr val="F28E2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최적 패키지 OVR 탐색 (ML 연속 예측)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57200" y="713232"/>
            <a:ext cx="1097280" cy="36576"/>
          </a:xfrm>
          <a:prstGeom prst="rect">
            <a:avLst/>
          </a:prstGeom>
          <a:solidFill>
            <a:srgbClr val="F28E2B"/>
          </a:solidFill>
          <a:ln/>
        </p:spPr>
      </p:sp>
      <p:sp>
        <p:nvSpPr>
          <p:cNvPr id="5" name="Shape 3"/>
          <p:cNvSpPr/>
          <p:nvPr/>
        </p:nvSpPr>
        <p:spPr>
          <a:xfrm>
            <a:off x="274320" y="960120"/>
            <a:ext cx="4480560" cy="3566160"/>
          </a:xfrm>
          <a:prstGeom prst="rect">
            <a:avLst/>
          </a:prstGeom>
          <a:solidFill>
            <a:srgbClr val="F8F8F8"/>
          </a:solidFill>
          <a:ln w="6350">
            <a:solidFill>
              <a:srgbClr val="E8E8E8"/>
            </a:solidFill>
            <a:prstDash val="solid"/>
          </a:ln>
        </p:spPr>
      </p:sp>
      <p:pic>
        <p:nvPicPr>
          <p:cNvPr id="6" name="Image 0" descr="/sessions/ecstatic-fervent-ptolemy/mnt/데이터분석 프로젝트 코드 구현화작업/fc_online4_analysis/outputs/figures/fig_24_optimal_ovr_curv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20040" y="1005840"/>
            <a:ext cx="4389120" cy="34747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983480" y="1005840"/>
            <a:ext cx="324612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28E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연속 최적화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OVR 125~142를 1단위로 RF predict_proba() 반복 실행하여 순영향(매출-손실)이 최대인 OVR 탐색.</a:t>
            </a:r>
            <a:endParaRPr lang="en-US" sz="1300" dirty="0"/>
          </a:p>
          <a:p>
            <a:pPr indent="0" marL="0">
              <a:spcBef>
                <a:spcPts val="800"/>
              </a:spcBef>
              <a:buNone/>
            </a:pPr>
            <a:r>
              <a:rPr lang="en-US" sz="1300" b="1" dirty="0">
                <a:solidFill>
                  <a:srgbClr val="F28E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최적 OVR 중심: 131 (현행 132 → 1단계 하향)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현행 이탈률: 39.8%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총 기대수익: 502.0억 (패키지 + 잔존유저)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이탈 손실: 134.0억 (멤버십+과금 기반)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순영향: +368.0억 (현행 +367.2억 대비 +0.8억 개선)</a:t>
            </a:r>
            <a:endParaRPr lang="en-US" sz="1300" dirty="0"/>
          </a:p>
          <a:p>
            <a:pPr indent="0" marL="0">
              <a:spcBef>
                <a:spcPts val="800"/>
              </a:spcBef>
              <a:buNone/>
            </a:pPr>
            <a:r>
              <a:rPr lang="en-US" sz="1300" b="1" dirty="0">
                <a:solidFill>
                  <a:srgbClr val="F28E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OVR 131이 순영향 최적점. 소폭 하향으로 이탈 감소 → 잔존 유저 기대수익 증가 → 순영향 개선. 과도한 변동은 오히려 순영향 악화.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046720" y="466344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28</a:t>
            </a:r>
            <a:endParaRPr lang="en-US" sz="1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23960" y="0"/>
            <a:ext cx="320040" cy="5143500"/>
          </a:xfrm>
          <a:prstGeom prst="rect">
            <a:avLst/>
          </a:prstGeom>
          <a:solidFill>
            <a:srgbClr val="F28E2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최종 액션 대시보드 (ML 기반)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57200" y="713232"/>
            <a:ext cx="1097280" cy="36576"/>
          </a:xfrm>
          <a:prstGeom prst="rect">
            <a:avLst/>
          </a:prstGeom>
          <a:solidFill>
            <a:srgbClr val="F28E2B"/>
          </a:solidFill>
          <a:ln/>
        </p:spPr>
      </p:sp>
      <p:sp>
        <p:nvSpPr>
          <p:cNvPr id="5" name="Shape 3"/>
          <p:cNvSpPr/>
          <p:nvPr/>
        </p:nvSpPr>
        <p:spPr>
          <a:xfrm>
            <a:off x="274320" y="960120"/>
            <a:ext cx="4480560" cy="3566160"/>
          </a:xfrm>
          <a:prstGeom prst="rect">
            <a:avLst/>
          </a:prstGeom>
          <a:solidFill>
            <a:srgbClr val="F8F8F8"/>
          </a:solidFill>
          <a:ln w="6350">
            <a:solidFill>
              <a:srgbClr val="E8E8E8"/>
            </a:solidFill>
            <a:prstDash val="solid"/>
          </a:ln>
        </p:spPr>
      </p:sp>
      <p:pic>
        <p:nvPicPr>
          <p:cNvPr id="6" name="Image 0" descr="/sessions/ecstatic-fervent-ptolemy/mnt/데이터분석 프로젝트 코드 구현화작업/fc_online4_analysis/outputs/figures/fig_25_action_dashboar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20040" y="1005840"/>
            <a:ext cx="4389120" cy="34747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983480" y="1005840"/>
            <a:ext cx="324612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28E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종합 요약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RF 모델 predict_proba 기반 시뮬레이션 결과, 최적 OVR 131(현행 132→1단계 하향). 순영향 +368.0억(현행 +367.2억 대비 +0.8억 개선).</a:t>
            </a:r>
            <a:endParaRPr lang="en-US" sz="1300" dirty="0"/>
          </a:p>
          <a:p>
            <a:pPr indent="0" marL="0">
              <a:spcBef>
                <a:spcPts val="800"/>
              </a:spcBef>
              <a:buNone/>
            </a:pPr>
            <a:r>
              <a:rPr lang="en-US" sz="1300" b="1" dirty="0">
                <a:solidFill>
                  <a:srgbClr val="F28E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 제안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단기: OVR 131로 소폭 하향 조정, 10~100조 그룹 이탈 방지 리텐션 프로그램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중기: 패키지 OVR 확률 구조 다변화로 시장 충격 분산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장기: 89% 핵심 유저층(10~100조+100~1000조) 과금 유지 전략</a:t>
            </a:r>
            <a:endParaRPr lang="en-US" sz="1300" dirty="0"/>
          </a:p>
          <a:p>
            <a:pPr indent="0" marL="0">
              <a:spcBef>
                <a:spcPts val="800"/>
              </a:spcBef>
              <a:buNone/>
            </a:pPr>
            <a:r>
              <a:rPr lang="en-US" sz="1300" b="1" dirty="0">
                <a:solidFill>
                  <a:srgbClr val="F28E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기대 효과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OVR 131 조정으로 순영향 +0.8억 개선 (이탈↓ → 잔존 수익↑)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유저층(89%) 이탈 모니터링 → 이탈 손실 비중(41%/31%) 관리</a:t>
            </a:r>
            <a:endParaRPr lang="en-US" sz="1300" dirty="0"/>
          </a:p>
          <a:p>
            <a:pPr indent="0" marL="0">
              <a:spcBef>
                <a:spcPts val="800"/>
              </a:spcBef>
              <a:buNone/>
            </a:pPr>
            <a:r>
              <a:rPr lang="en-US" sz="1300" b="1" dirty="0">
                <a:solidFill>
                  <a:srgbClr val="F28E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한계점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ML 모델 AUC 0.727 기반 추정. A/B 테스트를 통한 실제 효과 검증 및 모델 업데이트 필요.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046720" y="466344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29</a:t>
            </a:r>
            <a:endParaRPr lang="en-US" sz="1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23960" y="0"/>
            <a:ext cx="320040" cy="5143500"/>
          </a:xfrm>
          <a:prstGeom prst="rect">
            <a:avLst/>
          </a:prstGeom>
          <a:solidFill>
            <a:srgbClr val="F28E2B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914400"/>
            <a:ext cx="548640" cy="73152"/>
          </a:xfrm>
          <a:prstGeom prst="rect">
            <a:avLst/>
          </a:prstGeom>
          <a:solidFill>
            <a:srgbClr val="F28E2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09728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결론 및 제언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965960"/>
            <a:ext cx="365760" cy="365760"/>
          </a:xfrm>
          <a:prstGeom prst="oval">
            <a:avLst/>
          </a:prstGeom>
          <a:solidFill>
            <a:srgbClr val="F28E2B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9659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88720" y="194767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인과적 방향성 확인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88720" y="222199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패키지 OVR 확률 → 선수 가격 하락 → 구단가치 감소 → 유저 이탈 (Pearson r=0.872, DID 유의, Granger 비유의)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40080" y="2697480"/>
            <a:ext cx="365760" cy="365760"/>
          </a:xfrm>
          <a:prstGeom prst="oval">
            <a:avLst/>
          </a:prstGeom>
          <a:solidFill>
            <a:srgbClr val="F28E2B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6974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188720" y="267919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89% 핵심 유저층이 영업이익 좌우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188720" y="295351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10~100조(54%)+100~1000조(35%) = 89%. 패키지 이탈 시 손실 비중 41%/31%/22%(과금 포함)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40080" y="3429000"/>
            <a:ext cx="365760" cy="365760"/>
          </a:xfrm>
          <a:prstGeom prst="oval">
            <a:avLst/>
          </a:prstGeom>
          <a:solidFill>
            <a:srgbClr val="F28E2B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34290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188720" y="341071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ML 모델 기반 예측 파이프라인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188720" y="368503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RF(AUC 0.727) 학습 → joblib 저장 → predict_proba()로 시나리오별 이탈률 예측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40080" y="4160520"/>
            <a:ext cx="365760" cy="365760"/>
          </a:xfrm>
          <a:prstGeom prst="oval">
            <a:avLst/>
          </a:prstGeom>
          <a:solidFill>
            <a:srgbClr val="F28E2B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41605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188720" y="414223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최적 OVR 131 (현행 132→1단계 하향)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188720" y="44165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순영향 +368.0억 (현행 +367.2억 대비 +0.8억 개선). 소폭 하향으로 이탈↓ → 잔존 유저 수익↑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40080" y="45720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Thank You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046720" y="466344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FC Online 4 데이터 분석 프로젝트</dc:title>
  <dc:subject>PptxGenJS Presentation</dc:subject>
  <dc:creator>minkyu</dc:creator>
  <cp:lastModifiedBy>minkyu</cp:lastModifiedBy>
  <cp:revision>1</cp:revision>
  <dcterms:created xsi:type="dcterms:W3CDTF">2026-03-31T04:57:47Z</dcterms:created>
  <dcterms:modified xsi:type="dcterms:W3CDTF">2026-03-31T04:57:47Z</dcterms:modified>
</cp:coreProperties>
</file>